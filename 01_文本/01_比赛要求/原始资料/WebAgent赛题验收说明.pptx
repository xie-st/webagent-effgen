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8463946" y="6221731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ide-bar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21" name="kicker"/>
          <p:cNvSpPr txBox="1"/>
          <p:nvPr/>
        </p:nvSpPr>
        <p:spPr>
          <a:xfrm>
            <a:off x="1016000" y="1498600"/>
            <a:ext cx="2705125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pc="200" sz="12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华为软件难题挑战赛 · 智能体系统</a:t>
            </a:r>
          </a:p>
        </p:txBody>
      </p:sp>
      <p:sp>
        <p:nvSpPr>
          <p:cNvPr id="22" name="title"/>
          <p:cNvSpPr txBox="1"/>
          <p:nvPr/>
        </p:nvSpPr>
        <p:spPr>
          <a:xfrm>
            <a:off x="1016000" y="2133600"/>
            <a:ext cx="3365500" cy="787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44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赛题验收说明</a:t>
            </a:r>
          </a:p>
        </p:txBody>
      </p:sp>
      <p:sp>
        <p:nvSpPr>
          <p:cNvPr id="23" name="subtitle"/>
          <p:cNvSpPr txBox="1"/>
          <p:nvPr/>
        </p:nvSpPr>
        <p:spPr>
          <a:xfrm>
            <a:off x="1015999" y="3098800"/>
            <a:ext cx="4443811" cy="35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0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《Web Agent 的并行执行与容错调度》</a:t>
            </a:r>
          </a:p>
        </p:txBody>
      </p:sp>
      <p:sp>
        <p:nvSpPr>
          <p:cNvPr id="24" name="divider"/>
          <p:cNvSpPr/>
          <p:nvPr/>
        </p:nvSpPr>
        <p:spPr>
          <a:xfrm>
            <a:off x="1016000" y="3784600"/>
            <a:ext cx="8128000" cy="12700"/>
          </a:xfrm>
          <a:prstGeom prst="rect">
            <a:avLst/>
          </a:prstGeom>
          <a:solidFill>
            <a:srgbClr val="D8DED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25" name="info"/>
          <p:cNvSpPr txBox="1"/>
          <p:nvPr/>
        </p:nvSpPr>
        <p:spPr>
          <a:xfrm>
            <a:off x="1016000" y="4063999"/>
            <a:ext cx="8382000" cy="1097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90000"/>
              </a:lnSpc>
              <a:defRPr sz="13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面向对象：全体参赛队伍</a:t>
            </a:r>
          </a:p>
          <a:p>
            <a:pPr>
              <a:lnSpc>
                <a:spcPct val="190000"/>
              </a:lnSpc>
              <a:defRPr sz="13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内容：验收构成 · 环境使用 · 判定规则 · 账号与纪律</a:t>
            </a:r>
          </a:p>
          <a:p>
            <a:pPr>
              <a:lnSpc>
                <a:spcPct val="190000"/>
              </a:lnSpc>
              <a:defRPr sz="13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编制：赛题验收组</a:t>
            </a:r>
          </a:p>
        </p:txBody>
      </p:sp>
      <p:sp>
        <p:nvSpPr>
          <p:cNvPr id="26" name="big-num"/>
          <p:cNvSpPr txBox="1"/>
          <p:nvPr/>
        </p:nvSpPr>
        <p:spPr>
          <a:xfrm>
            <a:off x="9166174" y="1555749"/>
            <a:ext cx="2009826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lnSpc>
                <a:spcPct val="120000"/>
              </a:lnSpc>
              <a:defRPr b="1" sz="56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10 + 1</a:t>
            </a:r>
          </a:p>
        </p:txBody>
      </p:sp>
      <p:sp>
        <p:nvSpPr>
          <p:cNvPr id="27" name="big-num-caption"/>
          <p:cNvSpPr txBox="1"/>
          <p:nvPr/>
        </p:nvSpPr>
        <p:spPr>
          <a:xfrm>
            <a:off x="8908591" y="2489200"/>
            <a:ext cx="2267409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lnSpc>
                <a:spcPct val="120000"/>
              </a:lnSpc>
              <a:defRPr sz="11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验收用例构成（自动化 + 真实网站）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kicker"/>
          <p:cNvSpPr txBox="1"/>
          <p:nvPr/>
        </p:nvSpPr>
        <p:spPr>
          <a:xfrm>
            <a:off x="711200" y="355600"/>
            <a:ext cx="3370523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pc="200"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WEB AGENT 的并行执行与容错调度 · 验收说明</a:t>
            </a:r>
          </a:p>
        </p:txBody>
      </p:sp>
      <p:sp>
        <p:nvSpPr>
          <p:cNvPr id="30" name="title"/>
          <p:cNvSpPr txBox="1"/>
          <p:nvPr/>
        </p:nvSpPr>
        <p:spPr>
          <a:xfrm>
            <a:off x="711200" y="635000"/>
            <a:ext cx="9018197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5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验收构成：10 个自动化用例 + 1 个真实网站用例，分两阶段进行</a:t>
            </a:r>
          </a:p>
        </p:txBody>
      </p:sp>
      <p:sp>
        <p:nvSpPr>
          <p:cNvPr id="31" name="title-bar"/>
          <p:cNvSpPr/>
          <p:nvPr/>
        </p:nvSpPr>
        <p:spPr>
          <a:xfrm>
            <a:off x="711200" y="1193800"/>
            <a:ext cx="457200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32" name="sec-a"/>
          <p:cNvSpPr txBox="1"/>
          <p:nvPr/>
        </p:nvSpPr>
        <p:spPr>
          <a:xfrm>
            <a:off x="711200" y="1498600"/>
            <a:ext cx="825500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6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用例构成</a:t>
            </a:r>
          </a:p>
        </p:txBody>
      </p:sp>
      <p:sp>
        <p:nvSpPr>
          <p:cNvPr id="33" name="z1-bar"/>
          <p:cNvSpPr/>
          <p:nvPr/>
        </p:nvSpPr>
        <p:spPr>
          <a:xfrm>
            <a:off x="711200" y="1930400"/>
            <a:ext cx="38100" cy="1066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34" name="z1-num"/>
          <p:cNvSpPr txBox="1"/>
          <p:nvPr/>
        </p:nvSpPr>
        <p:spPr>
          <a:xfrm>
            <a:off x="914399" y="1879600"/>
            <a:ext cx="549500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38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5" name="z1-name"/>
          <p:cNvSpPr txBox="1"/>
          <p:nvPr/>
        </p:nvSpPr>
        <p:spPr>
          <a:xfrm>
            <a:off x="1803400" y="2006600"/>
            <a:ext cx="1028700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6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自动化用例</a:t>
            </a:r>
          </a:p>
        </p:txBody>
      </p:sp>
      <p:sp>
        <p:nvSpPr>
          <p:cNvPr id="36" name="z1-desc"/>
          <p:cNvSpPr txBox="1"/>
          <p:nvPr/>
        </p:nvSpPr>
        <p:spPr>
          <a:xfrm>
            <a:off x="914400" y="2514599"/>
            <a:ext cx="4902200" cy="497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5000"/>
              </a:lnSpc>
              <a:defRPr sz="11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在我们部署的模拟环境（论坛、电商两个网站）上执行，任务声明完成后由程序化校验器自动核对结果。</a:t>
            </a:r>
          </a:p>
        </p:txBody>
      </p:sp>
      <p:sp>
        <p:nvSpPr>
          <p:cNvPr id="37" name="z2-bar"/>
          <p:cNvSpPr/>
          <p:nvPr/>
        </p:nvSpPr>
        <p:spPr>
          <a:xfrm>
            <a:off x="6477000" y="1930400"/>
            <a:ext cx="38100" cy="1066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38" name="z2-num"/>
          <p:cNvSpPr txBox="1"/>
          <p:nvPr/>
        </p:nvSpPr>
        <p:spPr>
          <a:xfrm>
            <a:off x="6680200" y="1879600"/>
            <a:ext cx="281100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38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9" name="z2-name"/>
          <p:cNvSpPr txBox="1"/>
          <p:nvPr/>
        </p:nvSpPr>
        <p:spPr>
          <a:xfrm>
            <a:off x="7391400" y="2006600"/>
            <a:ext cx="1231900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6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真实网站用例</a:t>
            </a:r>
          </a:p>
        </p:txBody>
      </p:sp>
      <p:sp>
        <p:nvSpPr>
          <p:cNvPr id="40" name="z2-desc"/>
          <p:cNvSpPr txBox="1"/>
          <p:nvPr/>
        </p:nvSpPr>
        <p:spPr>
          <a:xfrm>
            <a:off x="6680200" y="2514600"/>
            <a:ext cx="4800600" cy="792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5000"/>
              </a:lnSpc>
              <a:defRPr sz="11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在公开真实网站上进行，目标网站与任务于验收阶段公布，视频连线现场演示，由我们查验交互能力与并行化能力（浏览器中支持用户接管和多Tab页并行处理任务）。</a:t>
            </a:r>
          </a:p>
        </p:txBody>
      </p:sp>
      <p:sp>
        <p:nvSpPr>
          <p:cNvPr id="41" name="mid-divider"/>
          <p:cNvSpPr/>
          <p:nvPr/>
        </p:nvSpPr>
        <p:spPr>
          <a:xfrm>
            <a:off x="711200" y="3365500"/>
            <a:ext cx="10769600" cy="12700"/>
          </a:xfrm>
          <a:prstGeom prst="rect">
            <a:avLst/>
          </a:prstGeom>
          <a:solidFill>
            <a:srgbClr val="D8DED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42" name="sec-b"/>
          <p:cNvSpPr txBox="1"/>
          <p:nvPr/>
        </p:nvSpPr>
        <p:spPr>
          <a:xfrm>
            <a:off x="711200" y="3556000"/>
            <a:ext cx="825500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6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阶段安排</a:t>
            </a:r>
          </a:p>
        </p:txBody>
      </p:sp>
      <p:sp>
        <p:nvSpPr>
          <p:cNvPr id="43" name="p1-rule"/>
          <p:cNvSpPr/>
          <p:nvPr/>
        </p:nvSpPr>
        <p:spPr>
          <a:xfrm>
            <a:off x="711200" y="3987800"/>
            <a:ext cx="4826000" cy="254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44" name="p1-title"/>
          <p:cNvSpPr txBox="1"/>
          <p:nvPr/>
        </p:nvSpPr>
        <p:spPr>
          <a:xfrm>
            <a:off x="711200" y="4140200"/>
            <a:ext cx="1583296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4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第一阶段 · 比赛阶段</a:t>
            </a:r>
          </a:p>
        </p:txBody>
      </p:sp>
      <p:sp>
        <p:nvSpPr>
          <p:cNvPr id="45" name="p1-body"/>
          <p:cNvSpPr txBox="1"/>
          <p:nvPr/>
        </p:nvSpPr>
        <p:spPr>
          <a:xfrm>
            <a:off x="711200" y="4495799"/>
            <a:ext cx="4826000" cy="94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7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所有赛队共用一台调测服务器，内置少量调测用例</a:t>
            </a:r>
          </a:p>
          <a:p>
            <a:pPr>
              <a:lnSpc>
                <a:spcPct val="17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Agent 在各队本地机器上开发，连接评测台联调</a:t>
            </a:r>
          </a:p>
          <a:p>
            <a:pPr>
              <a:lnSpc>
                <a:spcPct val="17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自行在真实网站验证 Web Agent 的交互能力与并行化能力</a:t>
            </a:r>
          </a:p>
        </p:txBody>
      </p:sp>
      <p:sp>
        <p:nvSpPr>
          <p:cNvPr id="46" name="phase-arrow"/>
          <p:cNvSpPr/>
          <p:nvPr/>
        </p:nvSpPr>
        <p:spPr>
          <a:xfrm>
            <a:off x="5664200" y="4902200"/>
            <a:ext cx="762000" cy="330200"/>
          </a:xfrm>
          <a:prstGeom prst="chevron">
            <a:avLst>
              <a:gd name="adj" fmla="val 50000"/>
            </a:avLst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47" name="p2-rule"/>
          <p:cNvSpPr/>
          <p:nvPr/>
        </p:nvSpPr>
        <p:spPr>
          <a:xfrm>
            <a:off x="6654800" y="3987800"/>
            <a:ext cx="4826000" cy="25400"/>
          </a:xfrm>
          <a:prstGeom prst="rect">
            <a:avLst/>
          </a:prstGeom>
          <a:solidFill>
            <a:srgbClr val="123047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48" name="p2-title"/>
          <p:cNvSpPr txBox="1"/>
          <p:nvPr/>
        </p:nvSpPr>
        <p:spPr>
          <a:xfrm>
            <a:off x="6654800" y="4140200"/>
            <a:ext cx="1583296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4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第二阶段 · 验收阶段</a:t>
            </a:r>
          </a:p>
        </p:txBody>
      </p:sp>
      <p:sp>
        <p:nvSpPr>
          <p:cNvPr id="49" name="p2-body"/>
          <p:cNvSpPr txBox="1"/>
          <p:nvPr/>
        </p:nvSpPr>
        <p:spPr>
          <a:xfrm>
            <a:off x="6654800" y="4495799"/>
            <a:ext cx="4826000" cy="94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7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比赛时间结束后，我们公布最终自动化验收服务器地址</a:t>
            </a:r>
          </a:p>
          <a:p>
            <a:pPr>
              <a:lnSpc>
                <a:spcPct val="17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逐队视频连线，配合我们执行10+1用例验收</a:t>
            </a:r>
          </a:p>
          <a:p>
            <a:pPr>
              <a:lnSpc>
                <a:spcPct val="17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现场核对结果，按账号查验成绩</a:t>
            </a:r>
          </a:p>
        </p:txBody>
      </p:sp>
      <p:sp>
        <p:nvSpPr>
          <p:cNvPr id="50" name="page-num"/>
          <p:cNvSpPr txBox="1"/>
          <p:nvPr/>
        </p:nvSpPr>
        <p:spPr>
          <a:xfrm>
            <a:off x="11079719" y="6477000"/>
            <a:ext cx="401081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lnSpc>
                <a:spcPct val="120000"/>
              </a:lnSpc>
              <a:defRPr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02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kicker"/>
          <p:cNvSpPr txBox="1"/>
          <p:nvPr/>
        </p:nvSpPr>
        <p:spPr>
          <a:xfrm>
            <a:off x="711200" y="355600"/>
            <a:ext cx="3370523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pc="200"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WEB AGENT 的并行执行与容错调度 · 验收说明</a:t>
            </a:r>
          </a:p>
        </p:txBody>
      </p:sp>
      <p:sp>
        <p:nvSpPr>
          <p:cNvPr id="53" name="title"/>
          <p:cNvSpPr txBox="1"/>
          <p:nvPr/>
        </p:nvSpPr>
        <p:spPr>
          <a:xfrm>
            <a:off x="711200" y="635000"/>
            <a:ext cx="9255392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5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环境构成：Agent 在本地开发，连接模拟环境与真实网站执行任务</a:t>
            </a:r>
          </a:p>
        </p:txBody>
      </p:sp>
      <p:sp>
        <p:nvSpPr>
          <p:cNvPr id="54" name="title-bar"/>
          <p:cNvSpPr/>
          <p:nvPr/>
        </p:nvSpPr>
        <p:spPr>
          <a:xfrm>
            <a:off x="711200" y="1193800"/>
            <a:ext cx="457200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55" name="nodeA-box"/>
          <p:cNvSpPr/>
          <p:nvPr/>
        </p:nvSpPr>
        <p:spPr>
          <a:xfrm>
            <a:off x="711200" y="2133600"/>
            <a:ext cx="3175000" cy="2133600"/>
          </a:xfrm>
          <a:prstGeom prst="rect">
            <a:avLst/>
          </a:prstGeom>
          <a:ln w="19050">
            <a:solidFill>
              <a:srgbClr val="123047"/>
            </a:solidFill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56" name="nodeA-title"/>
          <p:cNvSpPr txBox="1"/>
          <p:nvPr/>
        </p:nvSpPr>
        <p:spPr>
          <a:xfrm>
            <a:off x="914400" y="2311400"/>
            <a:ext cx="10795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4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各队本地机器</a:t>
            </a:r>
          </a:p>
        </p:txBody>
      </p:sp>
      <p:sp>
        <p:nvSpPr>
          <p:cNvPr id="57" name="nodeA-body"/>
          <p:cNvSpPr txBox="1"/>
          <p:nvPr/>
        </p:nvSpPr>
        <p:spPr>
          <a:xfrm>
            <a:off x="914400" y="2666999"/>
            <a:ext cx="2794000" cy="1284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65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Web Agent（开发语言与框架不限）</a:t>
            </a:r>
          </a:p>
          <a:p>
            <a:pPr>
              <a:lnSpc>
                <a:spcPct val="165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模型：验收统一为 Qwen3.6-35B-A3B</a:t>
            </a:r>
          </a:p>
          <a:p>
            <a:pPr>
              <a:lnSpc>
                <a:spcPct val="165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自然语言任务指令在此输入</a:t>
            </a:r>
          </a:p>
          <a:p>
            <a:pPr>
              <a:lnSpc>
                <a:spcPct val="165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运行日志在此生成</a:t>
            </a:r>
          </a:p>
        </p:txBody>
      </p:sp>
      <p:sp>
        <p:nvSpPr>
          <p:cNvPr id="58" name="arrowAB"/>
          <p:cNvSpPr/>
          <p:nvPr/>
        </p:nvSpPr>
        <p:spPr>
          <a:xfrm>
            <a:off x="4013200" y="2438400"/>
            <a:ext cx="2844800" cy="177800"/>
          </a:xfrm>
          <a:prstGeom prst="rightArrow">
            <a:avLst>
              <a:gd name="adj1" fmla="val 45000"/>
              <a:gd name="adj2" fmla="val 89481"/>
            </a:avLst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59" name="arrowAB-label"/>
          <p:cNvSpPr txBox="1"/>
          <p:nvPr/>
        </p:nvSpPr>
        <p:spPr>
          <a:xfrm>
            <a:off x="4267200" y="2159000"/>
            <a:ext cx="168910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客户端主动连接（评测台）</a:t>
            </a:r>
          </a:p>
        </p:txBody>
      </p:sp>
      <p:sp>
        <p:nvSpPr>
          <p:cNvPr id="60" name="arrowAC"/>
          <p:cNvSpPr/>
          <p:nvPr/>
        </p:nvSpPr>
        <p:spPr>
          <a:xfrm>
            <a:off x="4013200" y="4686300"/>
            <a:ext cx="2844800" cy="177800"/>
          </a:xfrm>
          <a:prstGeom prst="rightArrow">
            <a:avLst>
              <a:gd name="adj1" fmla="val 45000"/>
              <a:gd name="adj2" fmla="val 98190"/>
            </a:avLst>
          </a:prstGeom>
          <a:solidFill>
            <a:srgbClr val="123047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61" name="arrowAC-label"/>
          <p:cNvSpPr txBox="1"/>
          <p:nvPr/>
        </p:nvSpPr>
        <p:spPr>
          <a:xfrm>
            <a:off x="4445000" y="4406900"/>
            <a:ext cx="113030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直接操作目标站点</a:t>
            </a:r>
          </a:p>
        </p:txBody>
      </p:sp>
      <p:sp>
        <p:nvSpPr>
          <p:cNvPr id="62" name="nodeB-box"/>
          <p:cNvSpPr/>
          <p:nvPr/>
        </p:nvSpPr>
        <p:spPr>
          <a:xfrm>
            <a:off x="6985000" y="1778000"/>
            <a:ext cx="4495800" cy="1498600"/>
          </a:xfrm>
          <a:prstGeom prst="rect">
            <a:avLst/>
          </a:prstGeom>
          <a:solidFill>
            <a:srgbClr val="F4F6F6"/>
          </a:solidFill>
          <a:ln w="19050">
            <a:solidFill>
              <a:srgbClr val="0F766E"/>
            </a:solidFill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63" name="nodeB-title"/>
          <p:cNvSpPr txBox="1"/>
          <p:nvPr/>
        </p:nvSpPr>
        <p:spPr>
          <a:xfrm>
            <a:off x="7188200" y="1930400"/>
            <a:ext cx="1761096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4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评测服务器 · 模拟环境</a:t>
            </a:r>
          </a:p>
        </p:txBody>
      </p:sp>
      <p:sp>
        <p:nvSpPr>
          <p:cNvPr id="64" name="nodeB-body"/>
          <p:cNvSpPr txBox="1"/>
          <p:nvPr/>
        </p:nvSpPr>
        <p:spPr>
          <a:xfrm>
            <a:off x="7188200" y="2286000"/>
            <a:ext cx="4114800" cy="928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65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论坛、电商两个网站，站点数据具备真实规模</a:t>
            </a:r>
          </a:p>
          <a:p>
            <a:pPr>
              <a:lnSpc>
                <a:spcPct val="165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每次任务恢复初始数据，结果按账号隔离</a:t>
            </a:r>
          </a:p>
          <a:p>
            <a:pPr>
              <a:lnSpc>
                <a:spcPct val="165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10 个自动化用例在此执行与校验</a:t>
            </a:r>
          </a:p>
        </p:txBody>
      </p:sp>
      <p:sp>
        <p:nvSpPr>
          <p:cNvPr id="65" name="nodeC-box"/>
          <p:cNvSpPr/>
          <p:nvPr/>
        </p:nvSpPr>
        <p:spPr>
          <a:xfrm>
            <a:off x="6985000" y="4216400"/>
            <a:ext cx="4495800" cy="1117600"/>
          </a:xfrm>
          <a:prstGeom prst="rect">
            <a:avLst/>
          </a:prstGeom>
          <a:ln w="19050">
            <a:solidFill>
              <a:srgbClr val="123047"/>
            </a:solidFill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66" name="nodeC-title"/>
          <p:cNvSpPr txBox="1"/>
          <p:nvPr/>
        </p:nvSpPr>
        <p:spPr>
          <a:xfrm>
            <a:off x="7188200" y="4368800"/>
            <a:ext cx="3035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4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公开真实网站（用例于验收阶段公布）</a:t>
            </a:r>
          </a:p>
        </p:txBody>
      </p:sp>
      <p:sp>
        <p:nvSpPr>
          <p:cNvPr id="67" name="nodeC-body"/>
          <p:cNvSpPr txBox="1"/>
          <p:nvPr/>
        </p:nvSpPr>
        <p:spPr>
          <a:xfrm>
            <a:off x="7188200" y="4724400"/>
            <a:ext cx="4114800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5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1 个真实网站用例的演示与查验对象</a:t>
            </a:r>
          </a:p>
        </p:txBody>
      </p:sp>
      <p:sp>
        <p:nvSpPr>
          <p:cNvPr id="68" name="note"/>
          <p:cNvSpPr txBox="1"/>
          <p:nvPr/>
        </p:nvSpPr>
        <p:spPr>
          <a:xfrm>
            <a:off x="711200" y="5740400"/>
            <a:ext cx="1076960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5000"/>
              </a:lnSpc>
              <a:defRPr sz="11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说明：各队无需在本地部署模拟环境，也无需准备服务器；只需在本地完成 Agent 开发，通过网络连接评测服务器即可。调测地址见第 4 页。</a:t>
            </a:r>
          </a:p>
        </p:txBody>
      </p:sp>
      <p:sp>
        <p:nvSpPr>
          <p:cNvPr id="69" name="page-num"/>
          <p:cNvSpPr txBox="1"/>
          <p:nvPr/>
        </p:nvSpPr>
        <p:spPr>
          <a:xfrm>
            <a:off x="11079719" y="6477000"/>
            <a:ext cx="401081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lnSpc>
                <a:spcPct val="120000"/>
              </a:lnSpc>
              <a:defRPr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03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kicker"/>
          <p:cNvSpPr txBox="1"/>
          <p:nvPr/>
        </p:nvSpPr>
        <p:spPr>
          <a:xfrm>
            <a:off x="711200" y="355600"/>
            <a:ext cx="3370523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pc="200"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WEB AGENT 的并行执行与容错调度 · 验收说明</a:t>
            </a:r>
          </a:p>
        </p:txBody>
      </p:sp>
      <p:sp>
        <p:nvSpPr>
          <p:cNvPr id="72" name="title"/>
          <p:cNvSpPr txBox="1"/>
          <p:nvPr/>
        </p:nvSpPr>
        <p:spPr>
          <a:xfrm>
            <a:off x="711200" y="635000"/>
            <a:ext cx="76327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5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比赛阶段三件事：注册账号、调测联调、真实网站自测</a:t>
            </a:r>
          </a:p>
        </p:txBody>
      </p:sp>
      <p:sp>
        <p:nvSpPr>
          <p:cNvPr id="73" name="title-bar"/>
          <p:cNvSpPr/>
          <p:nvPr/>
        </p:nvSpPr>
        <p:spPr>
          <a:xfrm>
            <a:off x="711200" y="1193800"/>
            <a:ext cx="457200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74" name="spine"/>
          <p:cNvSpPr/>
          <p:nvPr/>
        </p:nvSpPr>
        <p:spPr>
          <a:xfrm>
            <a:off x="889000" y="1905000"/>
            <a:ext cx="12700" cy="3632200"/>
          </a:xfrm>
          <a:prstGeom prst="rect">
            <a:avLst/>
          </a:prstGeom>
          <a:solidFill>
            <a:srgbClr val="D8DED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75" name="s1-num"/>
          <p:cNvSpPr txBox="1"/>
          <p:nvPr/>
        </p:nvSpPr>
        <p:spPr>
          <a:xfrm>
            <a:off x="711199" y="1727200"/>
            <a:ext cx="379985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6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6" name="s1-title"/>
          <p:cNvSpPr txBox="1"/>
          <p:nvPr/>
        </p:nvSpPr>
        <p:spPr>
          <a:xfrm>
            <a:off x="1625600" y="1778000"/>
            <a:ext cx="32131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4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注册评测台账号（每队一个，妥善保管）</a:t>
            </a:r>
          </a:p>
        </p:txBody>
      </p:sp>
      <p:sp>
        <p:nvSpPr>
          <p:cNvPr id="77" name="s1-body"/>
          <p:cNvSpPr txBox="1"/>
          <p:nvPr/>
        </p:nvSpPr>
        <p:spPr>
          <a:xfrm>
            <a:off x="1625600" y="2133600"/>
            <a:ext cx="9398000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6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请各队在调测服务器上自行注册账号。评测结果与账号绑定，验收时请提供给我们查验成绩。</a:t>
            </a:r>
          </a:p>
          <a:p>
            <a:pPr>
              <a:lnSpc>
                <a:spcPct val="16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调测地址：</a:t>
            </a:r>
            <a:r>
              <a:rPr>
                <a:solidFill>
                  <a:srgbClr val="0F766E"/>
                </a:solidFill>
              </a:rPr>
              <a:t>https://webarena.94-74-111-115.sslip.io/</a:t>
            </a:r>
          </a:p>
        </p:txBody>
      </p:sp>
      <p:sp>
        <p:nvSpPr>
          <p:cNvPr id="78" name="s2-num"/>
          <p:cNvSpPr txBox="1"/>
          <p:nvPr/>
        </p:nvSpPr>
        <p:spPr>
          <a:xfrm>
            <a:off x="711199" y="3022600"/>
            <a:ext cx="379985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6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79" name="s2-title"/>
          <p:cNvSpPr txBox="1"/>
          <p:nvPr/>
        </p:nvSpPr>
        <p:spPr>
          <a:xfrm>
            <a:off x="1625599" y="3073400"/>
            <a:ext cx="2526731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4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用调测用例联调（论坛 + 电商）</a:t>
            </a:r>
          </a:p>
        </p:txBody>
      </p:sp>
      <p:sp>
        <p:nvSpPr>
          <p:cNvPr id="80" name="s2-body"/>
          <p:cNvSpPr txBox="1"/>
          <p:nvPr/>
        </p:nvSpPr>
        <p:spPr>
          <a:xfrm>
            <a:off x="1625600" y="3429000"/>
            <a:ext cx="9398000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6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调测服务器内置论坛、电商两个网站和少量调测用例。Agent 在本地机器运行，主动连接评测台执行任务，</a:t>
            </a:r>
          </a:p>
          <a:p>
            <a:pPr>
              <a:lnSpc>
                <a:spcPct val="16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通过结果回放查看每一步真实操作与评测结果，反复打磨并行执行与容错调度策略。</a:t>
            </a:r>
          </a:p>
        </p:txBody>
      </p:sp>
      <p:sp>
        <p:nvSpPr>
          <p:cNvPr id="81" name="s3-num"/>
          <p:cNvSpPr txBox="1"/>
          <p:nvPr/>
        </p:nvSpPr>
        <p:spPr>
          <a:xfrm>
            <a:off x="711199" y="4318000"/>
            <a:ext cx="379985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6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82" name="s3-title"/>
          <p:cNvSpPr txBox="1"/>
          <p:nvPr/>
        </p:nvSpPr>
        <p:spPr>
          <a:xfrm>
            <a:off x="1625600" y="43688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4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在真实网站自测</a:t>
            </a:r>
          </a:p>
        </p:txBody>
      </p:sp>
      <p:sp>
        <p:nvSpPr>
          <p:cNvPr id="83" name="s3-body"/>
          <p:cNvSpPr txBox="1"/>
          <p:nvPr/>
        </p:nvSpPr>
        <p:spPr>
          <a:xfrm>
            <a:off x="1625600" y="4724400"/>
            <a:ext cx="9398000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6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请自行在公开真实网站上验证 Web Agent 的交互能力与并行化能力，</a:t>
            </a:r>
          </a:p>
          <a:p>
            <a:pPr>
              <a:lnSpc>
                <a:spcPct val="16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为真实网站用例的视频演示做好准备（用例的目标网站由我们在验收阶段公布）。</a:t>
            </a:r>
          </a:p>
        </p:txBody>
      </p:sp>
      <p:sp>
        <p:nvSpPr>
          <p:cNvPr id="84" name="note-band"/>
          <p:cNvSpPr/>
          <p:nvPr/>
        </p:nvSpPr>
        <p:spPr>
          <a:xfrm>
            <a:off x="711200" y="5816600"/>
            <a:ext cx="10769600" cy="508000"/>
          </a:xfrm>
          <a:prstGeom prst="rect">
            <a:avLst/>
          </a:prstGeom>
          <a:solidFill>
            <a:srgbClr val="F4F6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85" name="note"/>
          <p:cNvSpPr txBox="1"/>
          <p:nvPr/>
        </p:nvSpPr>
        <p:spPr>
          <a:xfrm>
            <a:off x="914400" y="5975350"/>
            <a:ext cx="74803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注意：调测环境仅用于联调，调测成绩不作为最终成绩；最终成绩以验收阶段在最终验收服务器上的结果为准。</a:t>
            </a:r>
          </a:p>
        </p:txBody>
      </p:sp>
      <p:sp>
        <p:nvSpPr>
          <p:cNvPr id="86" name="page-num"/>
          <p:cNvSpPr txBox="1"/>
          <p:nvPr/>
        </p:nvSpPr>
        <p:spPr>
          <a:xfrm>
            <a:off x="11079719" y="6477000"/>
            <a:ext cx="401081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lnSpc>
                <a:spcPct val="120000"/>
              </a:lnSpc>
              <a:defRPr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04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kicker"/>
          <p:cNvSpPr txBox="1"/>
          <p:nvPr/>
        </p:nvSpPr>
        <p:spPr>
          <a:xfrm>
            <a:off x="711200" y="355600"/>
            <a:ext cx="3370523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pc="200"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WEB AGENT 的并行执行与容错调度 · 验收说明</a:t>
            </a:r>
          </a:p>
        </p:txBody>
      </p:sp>
      <p:sp>
        <p:nvSpPr>
          <p:cNvPr id="89" name="title"/>
          <p:cNvSpPr txBox="1"/>
          <p:nvPr/>
        </p:nvSpPr>
        <p:spPr>
          <a:xfrm>
            <a:off x="711200" y="635000"/>
            <a:ext cx="66802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5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评测台机制：同一起点、账号隔离、全程可回放</a:t>
            </a:r>
          </a:p>
        </p:txBody>
      </p:sp>
      <p:sp>
        <p:nvSpPr>
          <p:cNvPr id="90" name="title-bar"/>
          <p:cNvSpPr/>
          <p:nvPr/>
        </p:nvSpPr>
        <p:spPr>
          <a:xfrm>
            <a:off x="711200" y="1193800"/>
            <a:ext cx="457200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91" name="m1-head"/>
          <p:cNvSpPr txBox="1"/>
          <p:nvPr/>
        </p:nvSpPr>
        <p:spPr>
          <a:xfrm>
            <a:off x="711199" y="1600200"/>
            <a:ext cx="14845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4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① 客户端主动连接</a:t>
            </a:r>
          </a:p>
        </p:txBody>
      </p:sp>
      <p:sp>
        <p:nvSpPr>
          <p:cNvPr id="92" name="m1-body"/>
          <p:cNvSpPr txBox="1"/>
          <p:nvPr/>
        </p:nvSpPr>
        <p:spPr>
          <a:xfrm>
            <a:off x="711200" y="1905000"/>
            <a:ext cx="5080000" cy="550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5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Agent 运行在各队本地机器，由本地主动向评测台发起连接，无需开放任何入站端口。</a:t>
            </a:r>
          </a:p>
        </p:txBody>
      </p:sp>
      <p:sp>
        <p:nvSpPr>
          <p:cNvPr id="93" name="m1-div"/>
          <p:cNvSpPr/>
          <p:nvPr/>
        </p:nvSpPr>
        <p:spPr>
          <a:xfrm>
            <a:off x="711200" y="2514600"/>
            <a:ext cx="5080000" cy="12700"/>
          </a:xfrm>
          <a:prstGeom prst="rect">
            <a:avLst/>
          </a:prstGeom>
          <a:solidFill>
            <a:srgbClr val="D8DED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94" name="m2-head"/>
          <p:cNvSpPr txBox="1"/>
          <p:nvPr/>
        </p:nvSpPr>
        <p:spPr>
          <a:xfrm>
            <a:off x="711200" y="2717800"/>
            <a:ext cx="1662299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4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② 每次恢复初始数据</a:t>
            </a:r>
          </a:p>
        </p:txBody>
      </p:sp>
      <p:sp>
        <p:nvSpPr>
          <p:cNvPr id="95" name="m2-body"/>
          <p:cNvSpPr txBox="1"/>
          <p:nvPr/>
        </p:nvSpPr>
        <p:spPr>
          <a:xfrm>
            <a:off x="711200" y="3022600"/>
            <a:ext cx="5080000" cy="550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5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每次任务执行前，网站数据恢复至同一份初始状态，保证所有队伍起点一致、任务可重复执行。</a:t>
            </a:r>
          </a:p>
        </p:txBody>
      </p:sp>
      <p:sp>
        <p:nvSpPr>
          <p:cNvPr id="96" name="m2-div"/>
          <p:cNvSpPr/>
          <p:nvPr/>
        </p:nvSpPr>
        <p:spPr>
          <a:xfrm>
            <a:off x="711200" y="3632200"/>
            <a:ext cx="5080000" cy="12700"/>
          </a:xfrm>
          <a:prstGeom prst="rect">
            <a:avLst/>
          </a:prstGeom>
          <a:solidFill>
            <a:srgbClr val="D8DED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97" name="m3-head"/>
          <p:cNvSpPr txBox="1"/>
          <p:nvPr/>
        </p:nvSpPr>
        <p:spPr>
          <a:xfrm>
            <a:off x="711199" y="3835400"/>
            <a:ext cx="14845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4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③ 结果按账号隔离</a:t>
            </a:r>
          </a:p>
        </p:txBody>
      </p:sp>
      <p:sp>
        <p:nvSpPr>
          <p:cNvPr id="98" name="m3-body"/>
          <p:cNvSpPr txBox="1"/>
          <p:nvPr/>
        </p:nvSpPr>
        <p:spPr>
          <a:xfrm>
            <a:off x="711200" y="4140200"/>
            <a:ext cx="5080000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5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各队伍的评测结果与账号绑定、相互隔离，其他队伍无法查看。</a:t>
            </a:r>
          </a:p>
        </p:txBody>
      </p:sp>
      <p:sp>
        <p:nvSpPr>
          <p:cNvPr id="99" name="m3-div"/>
          <p:cNvSpPr/>
          <p:nvPr/>
        </p:nvSpPr>
        <p:spPr>
          <a:xfrm>
            <a:off x="711200" y="4749800"/>
            <a:ext cx="5080000" cy="12700"/>
          </a:xfrm>
          <a:prstGeom prst="rect">
            <a:avLst/>
          </a:prstGeom>
          <a:solidFill>
            <a:srgbClr val="D8DED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00" name="m4-head"/>
          <p:cNvSpPr txBox="1"/>
          <p:nvPr/>
        </p:nvSpPr>
        <p:spPr>
          <a:xfrm>
            <a:off x="711199" y="4953000"/>
            <a:ext cx="11289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4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④ 结果可回放</a:t>
            </a:r>
          </a:p>
        </p:txBody>
      </p:sp>
      <p:sp>
        <p:nvSpPr>
          <p:cNvPr id="101" name="m4-body"/>
          <p:cNvSpPr txBox="1"/>
          <p:nvPr/>
        </p:nvSpPr>
        <p:spPr>
          <a:xfrm>
            <a:off x="711200" y="5257800"/>
            <a:ext cx="5080000" cy="550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5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任务执行的真实操作过程与评测结果可在评测台回放，便于定位问题、复核结论。</a:t>
            </a:r>
          </a:p>
        </p:txBody>
      </p:sp>
      <p:pic>
        <p:nvPicPr>
          <p:cNvPr id="102" name="shot" descr="shot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99200" y="1603375"/>
            <a:ext cx="5181600" cy="2914650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shot-border"/>
          <p:cNvSpPr/>
          <p:nvPr/>
        </p:nvSpPr>
        <p:spPr>
          <a:xfrm>
            <a:off x="6299200" y="1600200"/>
            <a:ext cx="5181600" cy="2921000"/>
          </a:xfrm>
          <a:prstGeom prst="rect">
            <a:avLst/>
          </a:prstGeom>
          <a:ln w="12700">
            <a:solidFill>
              <a:srgbClr val="D8DEDE"/>
            </a:solidFill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04" name="shot-caption"/>
          <p:cNvSpPr txBox="1"/>
          <p:nvPr/>
        </p:nvSpPr>
        <p:spPr>
          <a:xfrm>
            <a:off x="6299200" y="4622800"/>
            <a:ext cx="518160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5000"/>
              </a:lnSpc>
              <a:defRPr sz="11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图：评测台登录页（调测环境）。首次使用在登录页切换至「注册」创建本队账号。</a:t>
            </a:r>
          </a:p>
        </p:txBody>
      </p:sp>
      <p:sp>
        <p:nvSpPr>
          <p:cNvPr id="105" name="page-num"/>
          <p:cNvSpPr txBox="1"/>
          <p:nvPr/>
        </p:nvSpPr>
        <p:spPr>
          <a:xfrm>
            <a:off x="11079719" y="6477000"/>
            <a:ext cx="401081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lnSpc>
                <a:spcPct val="120000"/>
              </a:lnSpc>
              <a:defRPr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05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kicker"/>
          <p:cNvSpPr txBox="1"/>
          <p:nvPr/>
        </p:nvSpPr>
        <p:spPr>
          <a:xfrm>
            <a:off x="711200" y="355600"/>
            <a:ext cx="3370523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pc="200"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WEB AGENT 的并行执行与容错调度 · 验收说明</a:t>
            </a:r>
          </a:p>
        </p:txBody>
      </p:sp>
      <p:sp>
        <p:nvSpPr>
          <p:cNvPr id="108" name="title"/>
          <p:cNvSpPr txBox="1"/>
          <p:nvPr/>
        </p:nvSpPr>
        <p:spPr>
          <a:xfrm>
            <a:off x="711200" y="635000"/>
            <a:ext cx="76327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5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验收阶段：以最终验收服务器为准，视频连线逐队验收</a:t>
            </a:r>
          </a:p>
        </p:txBody>
      </p:sp>
      <p:sp>
        <p:nvSpPr>
          <p:cNvPr id="109" name="title-bar"/>
          <p:cNvSpPr/>
          <p:nvPr/>
        </p:nvSpPr>
        <p:spPr>
          <a:xfrm>
            <a:off x="711200" y="1193800"/>
            <a:ext cx="457200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10" name="flow-line"/>
          <p:cNvSpPr/>
          <p:nvPr/>
        </p:nvSpPr>
        <p:spPr>
          <a:xfrm>
            <a:off x="711200" y="1930400"/>
            <a:ext cx="10769600" cy="12700"/>
          </a:xfrm>
          <a:prstGeom prst="rect">
            <a:avLst/>
          </a:prstGeom>
          <a:solidFill>
            <a:srgbClr val="D8DED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11" name="f1-num"/>
          <p:cNvSpPr txBox="1"/>
          <p:nvPr/>
        </p:nvSpPr>
        <p:spPr>
          <a:xfrm>
            <a:off x="711199" y="2133600"/>
            <a:ext cx="168090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2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2" name="f1-head"/>
          <p:cNvSpPr txBox="1"/>
          <p:nvPr/>
        </p:nvSpPr>
        <p:spPr>
          <a:xfrm>
            <a:off x="711200" y="2565400"/>
            <a:ext cx="6731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公布地址</a:t>
            </a:r>
          </a:p>
        </p:txBody>
      </p:sp>
      <p:sp>
        <p:nvSpPr>
          <p:cNvPr id="113" name="f1-body"/>
          <p:cNvSpPr txBox="1"/>
          <p:nvPr/>
        </p:nvSpPr>
        <p:spPr>
          <a:xfrm>
            <a:off x="711200" y="2870200"/>
            <a:ext cx="2413000" cy="518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5000"/>
              </a:lnSpc>
              <a:defRPr sz="11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比赛时间结束后，我们公布最终验收服务器地址，验收以该地址为准。</a:t>
            </a:r>
          </a:p>
        </p:txBody>
      </p:sp>
      <p:sp>
        <p:nvSpPr>
          <p:cNvPr id="114" name="f2-num"/>
          <p:cNvSpPr txBox="1"/>
          <p:nvPr/>
        </p:nvSpPr>
        <p:spPr>
          <a:xfrm>
            <a:off x="3492499" y="2133600"/>
            <a:ext cx="168090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2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5" name="f2-head"/>
          <p:cNvSpPr txBox="1"/>
          <p:nvPr/>
        </p:nvSpPr>
        <p:spPr>
          <a:xfrm>
            <a:off x="3492500" y="2565400"/>
            <a:ext cx="6731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连接环境</a:t>
            </a:r>
          </a:p>
        </p:txBody>
      </p:sp>
      <p:sp>
        <p:nvSpPr>
          <p:cNvPr id="116" name="f2-body"/>
          <p:cNvSpPr txBox="1"/>
          <p:nvPr/>
        </p:nvSpPr>
        <p:spPr>
          <a:xfrm>
            <a:off x="3492500" y="2870200"/>
            <a:ext cx="2413000" cy="518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5000"/>
              </a:lnSpc>
              <a:defRPr sz="11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用本队账号登录最终验收服务器，确认 Agent 可正常连接并执行任务。</a:t>
            </a:r>
          </a:p>
        </p:txBody>
      </p:sp>
      <p:sp>
        <p:nvSpPr>
          <p:cNvPr id="117" name="f3-num"/>
          <p:cNvSpPr txBox="1"/>
          <p:nvPr/>
        </p:nvSpPr>
        <p:spPr>
          <a:xfrm>
            <a:off x="6273799" y="2133600"/>
            <a:ext cx="168090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2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8" name="f3-head"/>
          <p:cNvSpPr txBox="1"/>
          <p:nvPr/>
        </p:nvSpPr>
        <p:spPr>
          <a:xfrm>
            <a:off x="6273800" y="2565400"/>
            <a:ext cx="6731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视频验收</a:t>
            </a:r>
          </a:p>
        </p:txBody>
      </p:sp>
      <p:sp>
        <p:nvSpPr>
          <p:cNvPr id="119" name="f3-body"/>
          <p:cNvSpPr txBox="1"/>
          <p:nvPr/>
        </p:nvSpPr>
        <p:spPr>
          <a:xfrm>
            <a:off x="6273800" y="2870200"/>
            <a:ext cx="2413000" cy="518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5000"/>
              </a:lnSpc>
              <a:defRPr sz="11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按评委指令逐个执行验收用例，共享屏幕展示 Agent 运行过程与日志。</a:t>
            </a:r>
          </a:p>
        </p:txBody>
      </p:sp>
      <p:sp>
        <p:nvSpPr>
          <p:cNvPr id="120" name="f4-num"/>
          <p:cNvSpPr txBox="1"/>
          <p:nvPr/>
        </p:nvSpPr>
        <p:spPr>
          <a:xfrm>
            <a:off x="9055099" y="2133600"/>
            <a:ext cx="168090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2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1" name="f4-head"/>
          <p:cNvSpPr txBox="1"/>
          <p:nvPr/>
        </p:nvSpPr>
        <p:spPr>
          <a:xfrm>
            <a:off x="9055100" y="2565400"/>
            <a:ext cx="6731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查验成绩</a:t>
            </a:r>
          </a:p>
        </p:txBody>
      </p:sp>
      <p:sp>
        <p:nvSpPr>
          <p:cNvPr id="122" name="f4-body"/>
          <p:cNvSpPr txBox="1"/>
          <p:nvPr/>
        </p:nvSpPr>
        <p:spPr>
          <a:xfrm>
            <a:off x="9055100" y="2870200"/>
            <a:ext cx="2413000" cy="518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5000"/>
              </a:lnSpc>
              <a:defRPr sz="11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当场核对各用例结果，我们按账号查验评测记录并确认成绩。</a:t>
            </a:r>
          </a:p>
        </p:txBody>
      </p:sp>
      <p:sp>
        <p:nvSpPr>
          <p:cNvPr id="123" name="mid-divider"/>
          <p:cNvSpPr/>
          <p:nvPr/>
        </p:nvSpPr>
        <p:spPr>
          <a:xfrm>
            <a:off x="711200" y="4089400"/>
            <a:ext cx="10769600" cy="12700"/>
          </a:xfrm>
          <a:prstGeom prst="rect">
            <a:avLst/>
          </a:prstGeom>
          <a:solidFill>
            <a:srgbClr val="D8DED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24" name="tips-title"/>
          <p:cNvSpPr txBox="1"/>
          <p:nvPr/>
        </p:nvSpPr>
        <p:spPr>
          <a:xfrm>
            <a:off x="711200" y="4343400"/>
            <a:ext cx="1638300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6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视频验收配合要点</a:t>
            </a:r>
          </a:p>
        </p:txBody>
      </p:sp>
      <p:sp>
        <p:nvSpPr>
          <p:cNvPr id="125" name="tips-body"/>
          <p:cNvSpPr txBox="1"/>
          <p:nvPr/>
        </p:nvSpPr>
        <p:spPr>
          <a:xfrm>
            <a:off x="711200" y="4749800"/>
            <a:ext cx="10769600" cy="1349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75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请提前测试网络与设备，保证视频连线与屏幕共享稳定、画面可看清 Agent 操作过程；</a:t>
            </a:r>
          </a:p>
          <a:p>
            <a:pPr>
              <a:lnSpc>
                <a:spcPct val="175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验收阶段统一使用 Qwen3.6-35B-A3B 模型（35B MoE、激活 3B），请提前完成适配联调，届时会提供API Key；</a:t>
            </a:r>
          </a:p>
          <a:p>
            <a:pPr>
              <a:lnSpc>
                <a:spcPct val="175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演示真实网站用例时，请展示真实交互过程与多页面并行执行效果；</a:t>
            </a:r>
          </a:p>
          <a:p>
            <a:pPr>
              <a:lnSpc>
                <a:spcPct val="175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请全程使用本队账号，Agent 操作、日志输出与评测记录须一一对应。</a:t>
            </a:r>
          </a:p>
        </p:txBody>
      </p:sp>
      <p:sp>
        <p:nvSpPr>
          <p:cNvPr id="126" name="page-num"/>
          <p:cNvSpPr txBox="1"/>
          <p:nvPr/>
        </p:nvSpPr>
        <p:spPr>
          <a:xfrm>
            <a:off x="11079719" y="6477000"/>
            <a:ext cx="401081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lnSpc>
                <a:spcPct val="120000"/>
              </a:lnSpc>
              <a:defRPr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06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kicker"/>
          <p:cNvSpPr txBox="1"/>
          <p:nvPr/>
        </p:nvSpPr>
        <p:spPr>
          <a:xfrm>
            <a:off x="711200" y="355600"/>
            <a:ext cx="3370523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pc="200"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WEB AGENT 的并行执行与容错调度 · 验收说明</a:t>
            </a:r>
          </a:p>
        </p:txBody>
      </p:sp>
      <p:sp>
        <p:nvSpPr>
          <p:cNvPr id="129" name="title"/>
          <p:cNvSpPr txBox="1"/>
          <p:nvPr/>
        </p:nvSpPr>
        <p:spPr>
          <a:xfrm>
            <a:off x="711200" y="635000"/>
            <a:ext cx="60452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5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自动化用例怎么判：二值判定、全程可审计</a:t>
            </a:r>
          </a:p>
        </p:txBody>
      </p:sp>
      <p:sp>
        <p:nvSpPr>
          <p:cNvPr id="130" name="title-bar"/>
          <p:cNvSpPr/>
          <p:nvPr/>
        </p:nvSpPr>
        <p:spPr>
          <a:xfrm>
            <a:off x="711200" y="1193800"/>
            <a:ext cx="457200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graphicFrame>
        <p:nvGraphicFramePr>
          <p:cNvPr id="131" name="rules-table"/>
          <p:cNvGraphicFramePr/>
          <p:nvPr/>
        </p:nvGraphicFramePr>
        <p:xfrm>
          <a:off x="711200" y="1549400"/>
          <a:ext cx="10769600" cy="4191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30832"/>
                <a:gridCol w="8938768"/>
              </a:tblGrid>
              <a:tr h="569148"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  <a:defRPr sz="1800"/>
                      </a:pPr>
                      <a:r>
                        <a:rPr b="1" sz="1200">
                          <a:solidFill>
                            <a:srgbClr val="12304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规则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D8DEDE"/>
                      </a:solidFill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  <a:defRPr sz="1800"/>
                      </a:pPr>
                      <a:r>
                        <a:rPr b="1" sz="1200">
                          <a:solidFill>
                            <a:srgbClr val="12304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说明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D8DEDE"/>
                      </a:solidFill>
                    </a:lnB>
                    <a:solidFill>
                      <a:srgbClr val="F4F6F6"/>
                    </a:solidFill>
                  </a:tcPr>
                </a:tc>
              </a:tr>
              <a:tr h="931333"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  <a:defRPr sz="1800"/>
                      </a:pPr>
                      <a:r>
                        <a:rPr b="1" sz="1200">
                          <a:solidFill>
                            <a:srgbClr val="12304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结果核对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D8DEDE"/>
                      </a:solidFill>
                    </a:lnT>
                    <a:lnB w="12700">
                      <a:solidFill>
                        <a:srgbClr val="D8DE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  <a:defRPr sz="1800"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每个用例配有程序化校验器，按任务类型分别核查最终页面内容、目标地址或网站后台数据；任务声明完成后执行校验，确认结果符合要求。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D8DEDE"/>
                      </a:solidFill>
                    </a:lnT>
                    <a:lnB w="12700">
                      <a:solidFill>
                        <a:srgbClr val="D8DEDE"/>
                      </a:solidFill>
                    </a:lnB>
                    <a:noFill/>
                  </a:tcPr>
                </a:tc>
              </a:tr>
              <a:tr h="620889"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  <a:defRPr sz="1800"/>
                      </a:pPr>
                      <a:r>
                        <a:rPr b="1" sz="1200">
                          <a:solidFill>
                            <a:srgbClr val="12304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二值判定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D8DEDE"/>
                      </a:solidFill>
                    </a:lnT>
                    <a:lnB w="12700">
                      <a:solidFill>
                        <a:srgbClr val="D8DE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  <a:defRPr sz="1800"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单个用例的验收结果只有「通过」与「不通过」，不设部分分。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D8DEDE"/>
                      </a:solidFill>
                    </a:lnT>
                    <a:lnB w="12700">
                      <a:solidFill>
                        <a:srgbClr val="D8DEDE"/>
                      </a:solidFill>
                    </a:lnB>
                    <a:noFill/>
                  </a:tcPr>
                </a:tc>
              </a:tr>
              <a:tr h="776111"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  <a:defRPr sz="1800"/>
                      </a:pPr>
                      <a:r>
                        <a:rPr b="1" sz="1200">
                          <a:solidFill>
                            <a:srgbClr val="12304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计时口径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D8DEDE"/>
                      </a:solidFill>
                    </a:lnT>
                    <a:lnB w="12700">
                      <a:solidFill>
                        <a:srgbClr val="D8DE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  <a:defRPr sz="1800"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从任务指令下发起，至验收检查执行时止；登录、二次验证等人工干预时段不计入任务时长。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D8DEDE"/>
                      </a:solidFill>
                    </a:lnT>
                    <a:lnB w="12700">
                      <a:solidFill>
                        <a:srgbClr val="D8DEDE"/>
                      </a:solidFill>
                    </a:lnB>
                    <a:noFill/>
                  </a:tcPr>
                </a:tc>
              </a:tr>
              <a:tr h="1293519"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  <a:defRPr sz="1800"/>
                      </a:pPr>
                      <a:r>
                        <a:rPr b="1" sz="1200">
                          <a:solidFill>
                            <a:srgbClr val="12304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日志审计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D8DEDE"/>
                      </a:solidFill>
                    </a:lnT>
                    <a:lnB w="12700">
                      <a:solidFill>
                        <a:srgbClr val="D8DE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  <a:defRPr sz="1800"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应用须输出完整运行日志（操作时间、目标页面、动作类型、结果、模型调用量）。日志与实际页面操作不符、绕过网页直接篡改数据、预写死任务答案、调用外部模型等行为，一经发现取消成绩。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D8DEDE"/>
                      </a:solidFill>
                    </a:lnT>
                    <a:lnB w="12700">
                      <a:solidFill>
                        <a:srgbClr val="D8DED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2" name="threshold-note"/>
          <p:cNvSpPr txBox="1"/>
          <p:nvPr/>
        </p:nvSpPr>
        <p:spPr>
          <a:xfrm>
            <a:off x="711199" y="5918200"/>
            <a:ext cx="2993208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C7000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门槛：验收通过率不低于 60% 方可进入排名</a:t>
            </a:r>
          </a:p>
        </p:txBody>
      </p:sp>
      <p:sp>
        <p:nvSpPr>
          <p:cNvPr id="133" name="page-num"/>
          <p:cNvSpPr txBox="1"/>
          <p:nvPr/>
        </p:nvSpPr>
        <p:spPr>
          <a:xfrm>
            <a:off x="11079719" y="6477000"/>
            <a:ext cx="401081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lnSpc>
                <a:spcPct val="120000"/>
              </a:lnSpc>
              <a:defRPr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07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kicker"/>
          <p:cNvSpPr txBox="1"/>
          <p:nvPr/>
        </p:nvSpPr>
        <p:spPr>
          <a:xfrm>
            <a:off x="711200" y="355600"/>
            <a:ext cx="3370523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pc="200"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WEB AGENT 的并行执行与容错调度 · 验收说明</a:t>
            </a:r>
          </a:p>
        </p:txBody>
      </p:sp>
      <p:sp>
        <p:nvSpPr>
          <p:cNvPr id="136" name="title"/>
          <p:cNvSpPr txBox="1"/>
          <p:nvPr/>
        </p:nvSpPr>
        <p:spPr>
          <a:xfrm>
            <a:off x="711200" y="635000"/>
            <a:ext cx="66802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5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真实网站用例：现场演示交互能力与并行化能力</a:t>
            </a:r>
          </a:p>
        </p:txBody>
      </p:sp>
      <p:sp>
        <p:nvSpPr>
          <p:cNvPr id="137" name="title-bar"/>
          <p:cNvSpPr/>
          <p:nvPr/>
        </p:nvSpPr>
        <p:spPr>
          <a:xfrm>
            <a:off x="711200" y="1193800"/>
            <a:ext cx="457200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38" name="intro-head"/>
          <p:cNvSpPr txBox="1"/>
          <p:nvPr/>
        </p:nvSpPr>
        <p:spPr>
          <a:xfrm>
            <a:off x="711200" y="1549400"/>
            <a:ext cx="825500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6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用例定位</a:t>
            </a:r>
          </a:p>
        </p:txBody>
      </p:sp>
      <p:sp>
        <p:nvSpPr>
          <p:cNvPr id="139" name="intro-body"/>
          <p:cNvSpPr txBox="1"/>
          <p:nvPr/>
        </p:nvSpPr>
        <p:spPr>
          <a:xfrm>
            <a:off x="711200" y="1930399"/>
            <a:ext cx="4826000" cy="1316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7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本用例是验收中唯一在公开真实网站上进行的用例，目标是检验 Web Agent 走出模拟环境后的真实可用性。</a:t>
            </a:r>
          </a:p>
          <a:p>
            <a:pPr>
              <a:lnSpc>
                <a:spcPct val="17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目标网站与任务由我们在验收阶段公布；届时请通过视频连线现场演示，我们实时查验。</a:t>
            </a:r>
          </a:p>
        </p:txBody>
      </p:sp>
      <p:sp>
        <p:nvSpPr>
          <p:cNvPr id="140" name="intro-note"/>
          <p:cNvSpPr txBox="1"/>
          <p:nvPr/>
        </p:nvSpPr>
        <p:spPr>
          <a:xfrm>
            <a:off x="711200" y="4013200"/>
            <a:ext cx="4826000" cy="792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5000"/>
              </a:lnSpc>
              <a:defRPr sz="11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提示：真实网站环境不可控（改版、限流、验证码均可能出现），建议比赛阶段在多个公开站点上充分验证交互与并行策略，并保证人工介入环节衔接顺畅。</a:t>
            </a:r>
          </a:p>
        </p:txBody>
      </p:sp>
      <p:sp>
        <p:nvSpPr>
          <p:cNvPr id="141" name="mid-divider"/>
          <p:cNvSpPr/>
          <p:nvPr/>
        </p:nvSpPr>
        <p:spPr>
          <a:xfrm>
            <a:off x="5969000" y="1549400"/>
            <a:ext cx="12700" cy="4191000"/>
          </a:xfrm>
          <a:prstGeom prst="rect">
            <a:avLst/>
          </a:prstGeom>
          <a:solidFill>
            <a:srgbClr val="D8DED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42" name="focus-head"/>
          <p:cNvSpPr txBox="1"/>
          <p:nvPr/>
        </p:nvSpPr>
        <p:spPr>
          <a:xfrm>
            <a:off x="6426200" y="1549400"/>
            <a:ext cx="2044700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6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我们查验的四个关注点</a:t>
            </a:r>
          </a:p>
        </p:txBody>
      </p:sp>
      <p:sp>
        <p:nvSpPr>
          <p:cNvPr id="143" name="c1-head"/>
          <p:cNvSpPr txBox="1"/>
          <p:nvPr/>
        </p:nvSpPr>
        <p:spPr>
          <a:xfrm>
            <a:off x="6426199" y="1981200"/>
            <a:ext cx="88407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① 真实交互</a:t>
            </a:r>
          </a:p>
        </p:txBody>
      </p:sp>
      <p:sp>
        <p:nvSpPr>
          <p:cNvPr id="144" name="c1-body"/>
          <p:cNvSpPr txBox="1"/>
          <p:nvPr/>
        </p:nvSpPr>
        <p:spPr>
          <a:xfrm>
            <a:off x="6426200" y="2260600"/>
            <a:ext cx="5054600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在真实页面上完成导航、检索等操作，而非预写死流程。</a:t>
            </a:r>
          </a:p>
        </p:txBody>
      </p:sp>
      <p:sp>
        <p:nvSpPr>
          <p:cNvPr id="145" name="c2-head"/>
          <p:cNvSpPr txBox="1"/>
          <p:nvPr/>
        </p:nvSpPr>
        <p:spPr>
          <a:xfrm>
            <a:off x="6426199" y="2844800"/>
            <a:ext cx="104917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② 并行化能力</a:t>
            </a:r>
          </a:p>
        </p:txBody>
      </p:sp>
      <p:sp>
        <p:nvSpPr>
          <p:cNvPr id="146" name="c2-body"/>
          <p:cNvSpPr txBox="1"/>
          <p:nvPr/>
        </p:nvSpPr>
        <p:spPr>
          <a:xfrm>
            <a:off x="6426200" y="3124200"/>
            <a:ext cx="5054600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多个页面、多个子任务并行推进，能看到相对串行执行的耗时收益。</a:t>
            </a:r>
          </a:p>
        </p:txBody>
      </p:sp>
      <p:sp>
        <p:nvSpPr>
          <p:cNvPr id="147" name="c3-head"/>
          <p:cNvSpPr txBox="1"/>
          <p:nvPr/>
        </p:nvSpPr>
        <p:spPr>
          <a:xfrm>
            <a:off x="6426199" y="3708400"/>
            <a:ext cx="88407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③ 限流合规</a:t>
            </a:r>
          </a:p>
        </p:txBody>
      </p:sp>
      <p:sp>
        <p:nvSpPr>
          <p:cNvPr id="148" name="c3-body"/>
          <p:cNvSpPr txBox="1"/>
          <p:nvPr/>
        </p:nvSpPr>
        <p:spPr>
          <a:xfrm>
            <a:off x="6426200" y="3987800"/>
            <a:ext cx="5054600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在目标网站的频率限制内运行，节奏受控，不触发冷却或封禁。</a:t>
            </a:r>
          </a:p>
        </p:txBody>
      </p:sp>
      <p:sp>
        <p:nvSpPr>
          <p:cNvPr id="149" name="c4-head"/>
          <p:cNvSpPr txBox="1"/>
          <p:nvPr/>
        </p:nvSpPr>
        <p:spPr>
          <a:xfrm>
            <a:off x="6426199" y="4572000"/>
            <a:ext cx="121427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④ 人工介入衔接</a:t>
            </a:r>
          </a:p>
        </p:txBody>
      </p:sp>
      <p:sp>
        <p:nvSpPr>
          <p:cNvPr id="150" name="c4-body"/>
          <p:cNvSpPr txBox="1"/>
          <p:nvPr/>
        </p:nvSpPr>
        <p:spPr>
          <a:xfrm>
            <a:off x="6426200" y="4851400"/>
            <a:ext cx="5054600" cy="539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登录、二次验证等环节能主动识别、暂停并提示用户操作，完成后自动恢复执行。</a:t>
            </a:r>
          </a:p>
        </p:txBody>
      </p:sp>
      <p:sp>
        <p:nvSpPr>
          <p:cNvPr id="151" name="page-num"/>
          <p:cNvSpPr txBox="1"/>
          <p:nvPr/>
        </p:nvSpPr>
        <p:spPr>
          <a:xfrm>
            <a:off x="11079719" y="6477000"/>
            <a:ext cx="401081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lnSpc>
                <a:spcPct val="120000"/>
              </a:lnSpc>
              <a:defRPr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08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kicker"/>
          <p:cNvSpPr txBox="1"/>
          <p:nvPr/>
        </p:nvSpPr>
        <p:spPr>
          <a:xfrm>
            <a:off x="711200" y="355600"/>
            <a:ext cx="3370523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pc="200"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WEB AGENT 的并行执行与容错调度 · 验收说明</a:t>
            </a:r>
          </a:p>
        </p:txBody>
      </p:sp>
      <p:sp>
        <p:nvSpPr>
          <p:cNvPr id="154" name="title"/>
          <p:cNvSpPr txBox="1"/>
          <p:nvPr/>
        </p:nvSpPr>
        <p:spPr>
          <a:xfrm>
            <a:off x="711200" y="635000"/>
            <a:ext cx="95377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5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资源与账号规则：每队同一时间只跑一个评测任务，账号即成绩凭据</a:t>
            </a:r>
          </a:p>
        </p:txBody>
      </p:sp>
      <p:sp>
        <p:nvSpPr>
          <p:cNvPr id="155" name="title-bar"/>
          <p:cNvSpPr/>
          <p:nvPr/>
        </p:nvSpPr>
        <p:spPr>
          <a:xfrm>
            <a:off x="711200" y="1193800"/>
            <a:ext cx="457200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56" name="spine"/>
          <p:cNvSpPr/>
          <p:nvPr/>
        </p:nvSpPr>
        <p:spPr>
          <a:xfrm>
            <a:off x="889000" y="1803400"/>
            <a:ext cx="12700" cy="3403600"/>
          </a:xfrm>
          <a:prstGeom prst="rect">
            <a:avLst/>
          </a:prstGeom>
          <a:solidFill>
            <a:srgbClr val="D8DED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57" name="r1-num"/>
          <p:cNvSpPr txBox="1"/>
          <p:nvPr/>
        </p:nvSpPr>
        <p:spPr>
          <a:xfrm>
            <a:off x="711199" y="1625600"/>
            <a:ext cx="379985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6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58" name="r1-title"/>
          <p:cNvSpPr txBox="1"/>
          <p:nvPr/>
        </p:nvSpPr>
        <p:spPr>
          <a:xfrm>
            <a:off x="1625600" y="1676400"/>
            <a:ext cx="9017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4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单任务串行</a:t>
            </a:r>
          </a:p>
        </p:txBody>
      </p:sp>
      <p:sp>
        <p:nvSpPr>
          <p:cNvPr id="159" name="r1-body"/>
          <p:cNvSpPr txBox="1"/>
          <p:nvPr/>
        </p:nvSpPr>
        <p:spPr>
          <a:xfrm>
            <a:off x="1625600" y="2032000"/>
            <a:ext cx="9398000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6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因服务器资源有限，每个赛队同一时间只能运行一个评测任务。请排队依次执行，</a:t>
            </a:r>
          </a:p>
          <a:p>
            <a:pPr>
              <a:lnSpc>
                <a:spcPct val="16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不要并发提交多个任务抢占资源，否则可能影响本队及其他队伍的评测结果。</a:t>
            </a:r>
          </a:p>
        </p:txBody>
      </p:sp>
      <p:sp>
        <p:nvSpPr>
          <p:cNvPr id="160" name="r2-num"/>
          <p:cNvSpPr txBox="1"/>
          <p:nvPr/>
        </p:nvSpPr>
        <p:spPr>
          <a:xfrm>
            <a:off x="711199" y="2946400"/>
            <a:ext cx="379985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6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1" name="r2-title"/>
          <p:cNvSpPr txBox="1"/>
          <p:nvPr/>
        </p:nvSpPr>
        <p:spPr>
          <a:xfrm>
            <a:off x="1625600" y="2997200"/>
            <a:ext cx="10795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4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自行注册登录</a:t>
            </a:r>
          </a:p>
        </p:txBody>
      </p:sp>
      <p:sp>
        <p:nvSpPr>
          <p:cNvPr id="162" name="r2-body"/>
          <p:cNvSpPr txBox="1"/>
          <p:nvPr/>
        </p:nvSpPr>
        <p:spPr>
          <a:xfrm>
            <a:off x="1625600" y="3352800"/>
            <a:ext cx="9398000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在评测台自行注册账号并登录后使用。一队一个账号，不要与其他队伍共用。</a:t>
            </a:r>
          </a:p>
        </p:txBody>
      </p:sp>
      <p:sp>
        <p:nvSpPr>
          <p:cNvPr id="163" name="r3-num"/>
          <p:cNvSpPr txBox="1"/>
          <p:nvPr/>
        </p:nvSpPr>
        <p:spPr>
          <a:xfrm>
            <a:off x="711199" y="4064000"/>
            <a:ext cx="379985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600">
                <a:solidFill>
                  <a:srgbClr val="0F766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64" name="r3-title"/>
          <p:cNvSpPr txBox="1"/>
          <p:nvPr/>
        </p:nvSpPr>
        <p:spPr>
          <a:xfrm>
            <a:off x="1625600" y="4114800"/>
            <a:ext cx="2146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4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牢记账号，验收时提供查验</a:t>
            </a:r>
          </a:p>
        </p:txBody>
      </p:sp>
      <p:sp>
        <p:nvSpPr>
          <p:cNvPr id="165" name="r3-body"/>
          <p:cNvSpPr txBox="1"/>
          <p:nvPr/>
        </p:nvSpPr>
        <p:spPr>
          <a:xfrm>
            <a:off x="1625600" y="4470400"/>
            <a:ext cx="9398000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6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评测结果与账号绑定。验收时请把本队账号提供给我们查验成绩；</a:t>
            </a:r>
          </a:p>
          <a:p>
            <a:pPr>
              <a:lnSpc>
                <a:spcPct val="16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账号遗失或无法提供的，相关评测记录不予认定。</a:t>
            </a:r>
          </a:p>
        </p:txBody>
      </p:sp>
      <p:sp>
        <p:nvSpPr>
          <p:cNvPr id="166" name="warn-band"/>
          <p:cNvSpPr/>
          <p:nvPr/>
        </p:nvSpPr>
        <p:spPr>
          <a:xfrm>
            <a:off x="711200" y="5588000"/>
            <a:ext cx="10769600" cy="558800"/>
          </a:xfrm>
          <a:prstGeom prst="rect">
            <a:avLst/>
          </a:prstGeom>
          <a:solidFill>
            <a:srgbClr val="FDF0E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67" name="warn-text"/>
          <p:cNvSpPr txBox="1"/>
          <p:nvPr/>
        </p:nvSpPr>
        <p:spPr>
          <a:xfrm>
            <a:off x="914400" y="5759448"/>
            <a:ext cx="61087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C7000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成绩以账号下的评测记录为准。账号混用、借用或冒用他人评测记录，一经发现取消成绩。</a:t>
            </a:r>
          </a:p>
        </p:txBody>
      </p:sp>
      <p:sp>
        <p:nvSpPr>
          <p:cNvPr id="168" name="page-num"/>
          <p:cNvSpPr txBox="1"/>
          <p:nvPr/>
        </p:nvSpPr>
        <p:spPr>
          <a:xfrm>
            <a:off x="11079719" y="6477000"/>
            <a:ext cx="401081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lnSpc>
                <a:spcPct val="120000"/>
              </a:lnSpc>
              <a:defRPr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09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kicker"/>
          <p:cNvSpPr txBox="1"/>
          <p:nvPr/>
        </p:nvSpPr>
        <p:spPr>
          <a:xfrm>
            <a:off x="711200" y="355600"/>
            <a:ext cx="3370523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pc="200"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WEB AGENT 的并行执行与容错调度 · 验收说明</a:t>
            </a:r>
          </a:p>
        </p:txBody>
      </p:sp>
      <p:sp>
        <p:nvSpPr>
          <p:cNvPr id="171" name="title"/>
          <p:cNvSpPr txBox="1"/>
          <p:nvPr/>
        </p:nvSpPr>
        <p:spPr>
          <a:xfrm>
            <a:off x="711200" y="635000"/>
            <a:ext cx="60452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25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验收前最后一步：对照清单自查，不碰红线</a:t>
            </a:r>
          </a:p>
        </p:txBody>
      </p:sp>
      <p:sp>
        <p:nvSpPr>
          <p:cNvPr id="172" name="title-bar"/>
          <p:cNvSpPr/>
          <p:nvPr/>
        </p:nvSpPr>
        <p:spPr>
          <a:xfrm>
            <a:off x="711200" y="1193800"/>
            <a:ext cx="457200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73" name="check-head"/>
          <p:cNvSpPr txBox="1"/>
          <p:nvPr/>
        </p:nvSpPr>
        <p:spPr>
          <a:xfrm>
            <a:off x="711200" y="1549400"/>
            <a:ext cx="2044700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6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自查清单（逐项确认）</a:t>
            </a:r>
          </a:p>
        </p:txBody>
      </p:sp>
      <p:sp>
        <p:nvSpPr>
          <p:cNvPr id="174" name="ck1-icon"/>
          <p:cNvSpPr/>
          <p:nvPr/>
        </p:nvSpPr>
        <p:spPr>
          <a:xfrm>
            <a:off x="736598" y="2018506"/>
            <a:ext cx="190502" cy="1666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514" y="2314"/>
                </a:moveTo>
                <a:cubicBezTo>
                  <a:pt x="18948" y="2314"/>
                  <a:pt x="19286" y="2652"/>
                  <a:pt x="19286" y="3086"/>
                </a:cubicBezTo>
                <a:lnTo>
                  <a:pt x="19286" y="18514"/>
                </a:lnTo>
                <a:cubicBezTo>
                  <a:pt x="19286" y="18948"/>
                  <a:pt x="18948" y="19286"/>
                  <a:pt x="18514" y="19286"/>
                </a:cubicBezTo>
                <a:lnTo>
                  <a:pt x="3086" y="19286"/>
                </a:lnTo>
                <a:cubicBezTo>
                  <a:pt x="2652" y="19286"/>
                  <a:pt x="2314" y="18948"/>
                  <a:pt x="2314" y="18514"/>
                </a:cubicBezTo>
                <a:lnTo>
                  <a:pt x="2314" y="3086"/>
                </a:lnTo>
                <a:cubicBezTo>
                  <a:pt x="2314" y="2652"/>
                  <a:pt x="2652" y="2314"/>
                  <a:pt x="3086" y="2314"/>
                </a:cubicBezTo>
                <a:lnTo>
                  <a:pt x="18514" y="2314"/>
                </a:lnTo>
                <a:close/>
                <a:moveTo>
                  <a:pt x="3086" y="0"/>
                </a:moveTo>
                <a:cubicBezTo>
                  <a:pt x="1398" y="0"/>
                  <a:pt x="0" y="1398"/>
                  <a:pt x="0" y="3086"/>
                </a:cubicBezTo>
                <a:lnTo>
                  <a:pt x="0" y="18514"/>
                </a:lnTo>
                <a:cubicBezTo>
                  <a:pt x="0" y="20202"/>
                  <a:pt x="1398" y="21600"/>
                  <a:pt x="3086" y="21600"/>
                </a:cubicBezTo>
                <a:lnTo>
                  <a:pt x="18514" y="21600"/>
                </a:lnTo>
                <a:cubicBezTo>
                  <a:pt x="20202" y="21600"/>
                  <a:pt x="21600" y="20202"/>
                  <a:pt x="21600" y="18514"/>
                </a:cubicBezTo>
                <a:lnTo>
                  <a:pt x="21600" y="3086"/>
                </a:lnTo>
                <a:cubicBezTo>
                  <a:pt x="21600" y="1398"/>
                  <a:pt x="20202" y="0"/>
                  <a:pt x="18514" y="0"/>
                </a:cubicBezTo>
                <a:lnTo>
                  <a:pt x="3086" y="0"/>
                </a:lnTo>
                <a:close/>
              </a:path>
            </a:pathLst>
          </a:cu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75" name="ck1"/>
          <p:cNvSpPr txBox="1"/>
          <p:nvPr/>
        </p:nvSpPr>
        <p:spPr>
          <a:xfrm>
            <a:off x="1066799" y="1981200"/>
            <a:ext cx="2730973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能登录最终验收服务器并正常连接 Agent</a:t>
            </a:r>
          </a:p>
        </p:txBody>
      </p:sp>
      <p:sp>
        <p:nvSpPr>
          <p:cNvPr id="176" name="ck2-icon"/>
          <p:cNvSpPr/>
          <p:nvPr/>
        </p:nvSpPr>
        <p:spPr>
          <a:xfrm>
            <a:off x="736598" y="2450306"/>
            <a:ext cx="190502" cy="1666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514" y="2314"/>
                </a:moveTo>
                <a:cubicBezTo>
                  <a:pt x="18948" y="2314"/>
                  <a:pt x="19286" y="2652"/>
                  <a:pt x="19286" y="3086"/>
                </a:cubicBezTo>
                <a:lnTo>
                  <a:pt x="19286" y="18514"/>
                </a:lnTo>
                <a:cubicBezTo>
                  <a:pt x="19286" y="18948"/>
                  <a:pt x="18948" y="19286"/>
                  <a:pt x="18514" y="19286"/>
                </a:cubicBezTo>
                <a:lnTo>
                  <a:pt x="3086" y="19286"/>
                </a:lnTo>
                <a:cubicBezTo>
                  <a:pt x="2652" y="19286"/>
                  <a:pt x="2314" y="18948"/>
                  <a:pt x="2314" y="18514"/>
                </a:cubicBezTo>
                <a:lnTo>
                  <a:pt x="2314" y="3086"/>
                </a:lnTo>
                <a:cubicBezTo>
                  <a:pt x="2314" y="2652"/>
                  <a:pt x="2652" y="2314"/>
                  <a:pt x="3086" y="2314"/>
                </a:cubicBezTo>
                <a:lnTo>
                  <a:pt x="18514" y="2314"/>
                </a:lnTo>
                <a:close/>
                <a:moveTo>
                  <a:pt x="3086" y="0"/>
                </a:moveTo>
                <a:cubicBezTo>
                  <a:pt x="1398" y="0"/>
                  <a:pt x="0" y="1398"/>
                  <a:pt x="0" y="3086"/>
                </a:cubicBezTo>
                <a:lnTo>
                  <a:pt x="0" y="18514"/>
                </a:lnTo>
                <a:cubicBezTo>
                  <a:pt x="0" y="20202"/>
                  <a:pt x="1398" y="21600"/>
                  <a:pt x="3086" y="21600"/>
                </a:cubicBezTo>
                <a:lnTo>
                  <a:pt x="18514" y="21600"/>
                </a:lnTo>
                <a:cubicBezTo>
                  <a:pt x="20202" y="21600"/>
                  <a:pt x="21600" y="20202"/>
                  <a:pt x="21600" y="18514"/>
                </a:cubicBezTo>
                <a:lnTo>
                  <a:pt x="21600" y="3086"/>
                </a:lnTo>
                <a:cubicBezTo>
                  <a:pt x="21600" y="1398"/>
                  <a:pt x="20202" y="0"/>
                  <a:pt x="18514" y="0"/>
                </a:cubicBezTo>
                <a:lnTo>
                  <a:pt x="3086" y="0"/>
                </a:lnTo>
                <a:close/>
              </a:path>
            </a:pathLst>
          </a:cu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77" name="ck2"/>
          <p:cNvSpPr txBox="1"/>
          <p:nvPr/>
        </p:nvSpPr>
        <p:spPr>
          <a:xfrm>
            <a:off x="1066799" y="2413000"/>
            <a:ext cx="2510558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10 个自动化用例在模拟环境全部跑通</a:t>
            </a:r>
          </a:p>
        </p:txBody>
      </p:sp>
      <p:sp>
        <p:nvSpPr>
          <p:cNvPr id="178" name="ck3-icon"/>
          <p:cNvSpPr/>
          <p:nvPr/>
        </p:nvSpPr>
        <p:spPr>
          <a:xfrm>
            <a:off x="736598" y="2882106"/>
            <a:ext cx="190502" cy="1666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514" y="2314"/>
                </a:moveTo>
                <a:cubicBezTo>
                  <a:pt x="18948" y="2314"/>
                  <a:pt x="19286" y="2652"/>
                  <a:pt x="19286" y="3086"/>
                </a:cubicBezTo>
                <a:lnTo>
                  <a:pt x="19286" y="18514"/>
                </a:lnTo>
                <a:cubicBezTo>
                  <a:pt x="19286" y="18948"/>
                  <a:pt x="18948" y="19286"/>
                  <a:pt x="18514" y="19286"/>
                </a:cubicBezTo>
                <a:lnTo>
                  <a:pt x="3086" y="19286"/>
                </a:lnTo>
                <a:cubicBezTo>
                  <a:pt x="2652" y="19286"/>
                  <a:pt x="2314" y="18948"/>
                  <a:pt x="2314" y="18514"/>
                </a:cubicBezTo>
                <a:lnTo>
                  <a:pt x="2314" y="3086"/>
                </a:lnTo>
                <a:cubicBezTo>
                  <a:pt x="2314" y="2652"/>
                  <a:pt x="2652" y="2314"/>
                  <a:pt x="3086" y="2314"/>
                </a:cubicBezTo>
                <a:lnTo>
                  <a:pt x="18514" y="2314"/>
                </a:lnTo>
                <a:close/>
                <a:moveTo>
                  <a:pt x="3086" y="0"/>
                </a:moveTo>
                <a:cubicBezTo>
                  <a:pt x="1398" y="0"/>
                  <a:pt x="0" y="1398"/>
                  <a:pt x="0" y="3086"/>
                </a:cubicBezTo>
                <a:lnTo>
                  <a:pt x="0" y="18514"/>
                </a:lnTo>
                <a:cubicBezTo>
                  <a:pt x="0" y="20202"/>
                  <a:pt x="1398" y="21600"/>
                  <a:pt x="3086" y="21600"/>
                </a:cubicBezTo>
                <a:lnTo>
                  <a:pt x="18514" y="21600"/>
                </a:lnTo>
                <a:cubicBezTo>
                  <a:pt x="20202" y="21600"/>
                  <a:pt x="21600" y="20202"/>
                  <a:pt x="21600" y="18514"/>
                </a:cubicBezTo>
                <a:lnTo>
                  <a:pt x="21600" y="3086"/>
                </a:lnTo>
                <a:cubicBezTo>
                  <a:pt x="21600" y="1398"/>
                  <a:pt x="20202" y="0"/>
                  <a:pt x="18514" y="0"/>
                </a:cubicBezTo>
                <a:lnTo>
                  <a:pt x="3086" y="0"/>
                </a:lnTo>
                <a:close/>
              </a:path>
            </a:pathLst>
          </a:cu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79" name="ck3"/>
          <p:cNvSpPr txBox="1"/>
          <p:nvPr/>
        </p:nvSpPr>
        <p:spPr>
          <a:xfrm>
            <a:off x="1066800" y="2844800"/>
            <a:ext cx="2755900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真实网站用例的目标站点与演示流程就绪</a:t>
            </a:r>
          </a:p>
        </p:txBody>
      </p:sp>
      <p:sp>
        <p:nvSpPr>
          <p:cNvPr id="180" name="ck4-icon"/>
          <p:cNvSpPr/>
          <p:nvPr/>
        </p:nvSpPr>
        <p:spPr>
          <a:xfrm>
            <a:off x="736598" y="3313905"/>
            <a:ext cx="190502" cy="1666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514" y="2314"/>
                </a:moveTo>
                <a:cubicBezTo>
                  <a:pt x="18948" y="2314"/>
                  <a:pt x="19286" y="2652"/>
                  <a:pt x="19286" y="3086"/>
                </a:cubicBezTo>
                <a:lnTo>
                  <a:pt x="19286" y="18514"/>
                </a:lnTo>
                <a:cubicBezTo>
                  <a:pt x="19286" y="18948"/>
                  <a:pt x="18948" y="19286"/>
                  <a:pt x="18514" y="19286"/>
                </a:cubicBezTo>
                <a:lnTo>
                  <a:pt x="3086" y="19286"/>
                </a:lnTo>
                <a:cubicBezTo>
                  <a:pt x="2652" y="19286"/>
                  <a:pt x="2314" y="18948"/>
                  <a:pt x="2314" y="18514"/>
                </a:cubicBezTo>
                <a:lnTo>
                  <a:pt x="2314" y="3086"/>
                </a:lnTo>
                <a:cubicBezTo>
                  <a:pt x="2314" y="2652"/>
                  <a:pt x="2652" y="2314"/>
                  <a:pt x="3086" y="2314"/>
                </a:cubicBezTo>
                <a:lnTo>
                  <a:pt x="18514" y="2314"/>
                </a:lnTo>
                <a:close/>
                <a:moveTo>
                  <a:pt x="3086" y="0"/>
                </a:moveTo>
                <a:cubicBezTo>
                  <a:pt x="1398" y="0"/>
                  <a:pt x="0" y="1398"/>
                  <a:pt x="0" y="3086"/>
                </a:cubicBezTo>
                <a:lnTo>
                  <a:pt x="0" y="18514"/>
                </a:lnTo>
                <a:cubicBezTo>
                  <a:pt x="0" y="20202"/>
                  <a:pt x="1398" y="21600"/>
                  <a:pt x="3086" y="21600"/>
                </a:cubicBezTo>
                <a:lnTo>
                  <a:pt x="18514" y="21600"/>
                </a:lnTo>
                <a:cubicBezTo>
                  <a:pt x="20202" y="21600"/>
                  <a:pt x="21600" y="20202"/>
                  <a:pt x="21600" y="18514"/>
                </a:cubicBezTo>
                <a:lnTo>
                  <a:pt x="21600" y="3086"/>
                </a:lnTo>
                <a:cubicBezTo>
                  <a:pt x="21600" y="1398"/>
                  <a:pt x="20202" y="0"/>
                  <a:pt x="18514" y="0"/>
                </a:cubicBezTo>
                <a:lnTo>
                  <a:pt x="3086" y="0"/>
                </a:lnTo>
                <a:close/>
              </a:path>
            </a:pathLst>
          </a:cu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81" name="ck4"/>
          <p:cNvSpPr txBox="1"/>
          <p:nvPr/>
        </p:nvSpPr>
        <p:spPr>
          <a:xfrm>
            <a:off x="1066800" y="3276600"/>
            <a:ext cx="1993900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运行日志输出完整、字段齐全</a:t>
            </a:r>
          </a:p>
        </p:txBody>
      </p:sp>
      <p:sp>
        <p:nvSpPr>
          <p:cNvPr id="182" name="ck5-icon"/>
          <p:cNvSpPr/>
          <p:nvPr/>
        </p:nvSpPr>
        <p:spPr>
          <a:xfrm>
            <a:off x="736598" y="3745705"/>
            <a:ext cx="190502" cy="1666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514" y="2314"/>
                </a:moveTo>
                <a:cubicBezTo>
                  <a:pt x="18948" y="2314"/>
                  <a:pt x="19286" y="2652"/>
                  <a:pt x="19286" y="3086"/>
                </a:cubicBezTo>
                <a:lnTo>
                  <a:pt x="19286" y="18514"/>
                </a:lnTo>
                <a:cubicBezTo>
                  <a:pt x="19286" y="18948"/>
                  <a:pt x="18948" y="19286"/>
                  <a:pt x="18514" y="19286"/>
                </a:cubicBezTo>
                <a:lnTo>
                  <a:pt x="3086" y="19286"/>
                </a:lnTo>
                <a:cubicBezTo>
                  <a:pt x="2652" y="19286"/>
                  <a:pt x="2314" y="18948"/>
                  <a:pt x="2314" y="18514"/>
                </a:cubicBezTo>
                <a:lnTo>
                  <a:pt x="2314" y="3086"/>
                </a:lnTo>
                <a:cubicBezTo>
                  <a:pt x="2314" y="2652"/>
                  <a:pt x="2652" y="2314"/>
                  <a:pt x="3086" y="2314"/>
                </a:cubicBezTo>
                <a:lnTo>
                  <a:pt x="18514" y="2314"/>
                </a:lnTo>
                <a:close/>
                <a:moveTo>
                  <a:pt x="3086" y="0"/>
                </a:moveTo>
                <a:cubicBezTo>
                  <a:pt x="1398" y="0"/>
                  <a:pt x="0" y="1398"/>
                  <a:pt x="0" y="3086"/>
                </a:cubicBezTo>
                <a:lnTo>
                  <a:pt x="0" y="18514"/>
                </a:lnTo>
                <a:cubicBezTo>
                  <a:pt x="0" y="20202"/>
                  <a:pt x="1398" y="21600"/>
                  <a:pt x="3086" y="21600"/>
                </a:cubicBezTo>
                <a:lnTo>
                  <a:pt x="18514" y="21600"/>
                </a:lnTo>
                <a:cubicBezTo>
                  <a:pt x="20202" y="21600"/>
                  <a:pt x="21600" y="20202"/>
                  <a:pt x="21600" y="18514"/>
                </a:cubicBezTo>
                <a:lnTo>
                  <a:pt x="21600" y="3086"/>
                </a:lnTo>
                <a:cubicBezTo>
                  <a:pt x="21600" y="1398"/>
                  <a:pt x="20202" y="0"/>
                  <a:pt x="18514" y="0"/>
                </a:cubicBezTo>
                <a:lnTo>
                  <a:pt x="3086" y="0"/>
                </a:lnTo>
                <a:close/>
              </a:path>
            </a:pathLst>
          </a:cu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83" name="ck5"/>
          <p:cNvSpPr txBox="1"/>
          <p:nvPr/>
        </p:nvSpPr>
        <p:spPr>
          <a:xfrm>
            <a:off x="1066800" y="3708400"/>
            <a:ext cx="2755900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本队账号信息已记录，可现场提供给我们</a:t>
            </a:r>
          </a:p>
        </p:txBody>
      </p:sp>
      <p:sp>
        <p:nvSpPr>
          <p:cNvPr id="184" name="ck6-icon"/>
          <p:cNvSpPr/>
          <p:nvPr/>
        </p:nvSpPr>
        <p:spPr>
          <a:xfrm>
            <a:off x="736598" y="4177505"/>
            <a:ext cx="190502" cy="1666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514" y="2314"/>
                </a:moveTo>
                <a:cubicBezTo>
                  <a:pt x="18948" y="2314"/>
                  <a:pt x="19286" y="2652"/>
                  <a:pt x="19286" y="3086"/>
                </a:cubicBezTo>
                <a:lnTo>
                  <a:pt x="19286" y="18514"/>
                </a:lnTo>
                <a:cubicBezTo>
                  <a:pt x="19286" y="18948"/>
                  <a:pt x="18948" y="19286"/>
                  <a:pt x="18514" y="19286"/>
                </a:cubicBezTo>
                <a:lnTo>
                  <a:pt x="3086" y="19286"/>
                </a:lnTo>
                <a:cubicBezTo>
                  <a:pt x="2652" y="19286"/>
                  <a:pt x="2314" y="18948"/>
                  <a:pt x="2314" y="18514"/>
                </a:cubicBezTo>
                <a:lnTo>
                  <a:pt x="2314" y="3086"/>
                </a:lnTo>
                <a:cubicBezTo>
                  <a:pt x="2314" y="2652"/>
                  <a:pt x="2652" y="2314"/>
                  <a:pt x="3086" y="2314"/>
                </a:cubicBezTo>
                <a:lnTo>
                  <a:pt x="18514" y="2314"/>
                </a:lnTo>
                <a:close/>
                <a:moveTo>
                  <a:pt x="3086" y="0"/>
                </a:moveTo>
                <a:cubicBezTo>
                  <a:pt x="1398" y="0"/>
                  <a:pt x="0" y="1398"/>
                  <a:pt x="0" y="3086"/>
                </a:cubicBezTo>
                <a:lnTo>
                  <a:pt x="0" y="18514"/>
                </a:lnTo>
                <a:cubicBezTo>
                  <a:pt x="0" y="20202"/>
                  <a:pt x="1398" y="21600"/>
                  <a:pt x="3086" y="21600"/>
                </a:cubicBezTo>
                <a:lnTo>
                  <a:pt x="18514" y="21600"/>
                </a:lnTo>
                <a:cubicBezTo>
                  <a:pt x="20202" y="21600"/>
                  <a:pt x="21600" y="20202"/>
                  <a:pt x="21600" y="18514"/>
                </a:cubicBezTo>
                <a:lnTo>
                  <a:pt x="21600" y="3086"/>
                </a:lnTo>
                <a:cubicBezTo>
                  <a:pt x="21600" y="1398"/>
                  <a:pt x="20202" y="0"/>
                  <a:pt x="18514" y="0"/>
                </a:cubicBezTo>
                <a:lnTo>
                  <a:pt x="3086" y="0"/>
                </a:lnTo>
                <a:close/>
              </a:path>
            </a:pathLst>
          </a:cu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85" name="ck6"/>
          <p:cNvSpPr txBox="1"/>
          <p:nvPr/>
        </p:nvSpPr>
        <p:spPr>
          <a:xfrm>
            <a:off x="1066800" y="4140200"/>
            <a:ext cx="3137942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Agent 已适配验收统一模型 Qwen3.6-35B-A3B</a:t>
            </a:r>
          </a:p>
        </p:txBody>
      </p:sp>
      <p:sp>
        <p:nvSpPr>
          <p:cNvPr id="186" name="mid-divider"/>
          <p:cNvSpPr/>
          <p:nvPr/>
        </p:nvSpPr>
        <p:spPr>
          <a:xfrm>
            <a:off x="6172200" y="1549400"/>
            <a:ext cx="12700" cy="3810000"/>
          </a:xfrm>
          <a:prstGeom prst="rect">
            <a:avLst/>
          </a:prstGeom>
          <a:solidFill>
            <a:srgbClr val="D8DED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87" name="red-head"/>
          <p:cNvSpPr txBox="1"/>
          <p:nvPr/>
        </p:nvSpPr>
        <p:spPr>
          <a:xfrm>
            <a:off x="6629399" y="1549400"/>
            <a:ext cx="3083423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1600">
                <a:solidFill>
                  <a:srgbClr val="C7000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红线（违反即记 0 分或取消成绩）</a:t>
            </a:r>
          </a:p>
        </p:txBody>
      </p:sp>
      <p:sp>
        <p:nvSpPr>
          <p:cNvPr id="188" name="red-body"/>
          <p:cNvSpPr txBox="1"/>
          <p:nvPr/>
        </p:nvSpPr>
        <p:spPr>
          <a:xfrm>
            <a:off x="6629400" y="1955799"/>
            <a:ext cx="4851400" cy="1316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7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验收阶段统一使用 Qwen3.6-35B-A3B（35B MoE、激活 3B）模型，如有更轻量的模型辅助需报备；</a:t>
            </a:r>
          </a:p>
          <a:p>
            <a:pPr>
              <a:lnSpc>
                <a:spcPct val="17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禁止调用其它高规格云端模型、外部 API 或外部算力；</a:t>
            </a:r>
          </a:p>
          <a:p>
            <a:pPr>
              <a:lnSpc>
                <a:spcPct val="170000"/>
              </a:lnSpc>
              <a:defRPr sz="1200">
                <a:solidFill>
                  <a:srgbClr val="2B2B2B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 绕过网页直接篡改数据、预写死任务答案、日志造假的，取消成绩。</a:t>
            </a:r>
          </a:p>
        </p:txBody>
      </p:sp>
      <p:sp>
        <p:nvSpPr>
          <p:cNvPr id="189" name="closing-line"/>
          <p:cNvSpPr/>
          <p:nvPr/>
        </p:nvSpPr>
        <p:spPr>
          <a:xfrm>
            <a:off x="711200" y="5740400"/>
            <a:ext cx="10769600" cy="12700"/>
          </a:xfrm>
          <a:prstGeom prst="rect">
            <a:avLst/>
          </a:prstGeom>
          <a:solidFill>
            <a:srgbClr val="D8DED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MiSans"/>
                <a:ea typeface="MiSans"/>
                <a:cs typeface="MiSans"/>
                <a:sym typeface="MiSans"/>
              </a:defRPr>
            </a:pPr>
          </a:p>
        </p:txBody>
      </p:sp>
      <p:sp>
        <p:nvSpPr>
          <p:cNvPr id="190" name="closing"/>
          <p:cNvSpPr txBox="1"/>
          <p:nvPr/>
        </p:nvSpPr>
        <p:spPr>
          <a:xfrm>
            <a:off x="4553649" y="6007098"/>
            <a:ext cx="308470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lnSpc>
                <a:spcPct val="120000"/>
              </a:lnSpc>
              <a:defRPr sz="1400">
                <a:solidFill>
                  <a:srgbClr val="123047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预祝各位取得好成绩。—— 赛题验收组</a:t>
            </a:r>
          </a:p>
        </p:txBody>
      </p:sp>
      <p:sp>
        <p:nvSpPr>
          <p:cNvPr id="191" name="page-num"/>
          <p:cNvSpPr txBox="1"/>
          <p:nvPr/>
        </p:nvSpPr>
        <p:spPr>
          <a:xfrm>
            <a:off x="11079719" y="6477000"/>
            <a:ext cx="401081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lnSpc>
                <a:spcPct val="120000"/>
              </a:lnSpc>
              <a:defRPr sz="1000">
                <a:solidFill>
                  <a:srgbClr val="6B7280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10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PPTD">
  <a:themeElements>
    <a:clrScheme name="PPTD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PPTD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PPT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PPTD">
  <a:themeElements>
    <a:clrScheme name="PPTD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PPTD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PPT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